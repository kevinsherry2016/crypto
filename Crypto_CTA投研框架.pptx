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58" r:id="rId4"/>
    <p:sldId id="259" r:id="rId5"/>
    <p:sldId id="267" r:id="rId6"/>
    <p:sldId id="261" r:id="rId7"/>
    <p:sldId id="262" r:id="rId8"/>
    <p:sldId id="263" r:id="rId9"/>
    <p:sldId id="268" r:id="rId10"/>
    <p:sldId id="271" r:id="rId11"/>
    <p:sldId id="269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85" autoAdjust="0"/>
    <p:restoredTop sz="86430" autoAdjust="0"/>
  </p:normalViewPr>
  <p:slideViewPr>
    <p:cSldViewPr snapToGrid="0" snapToObjects="1">
      <p:cViewPr varScale="1">
        <p:scale>
          <a:sx n="76" d="100"/>
          <a:sy n="76" d="100"/>
        </p:scale>
        <p:origin x="267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GMV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2.8</c:v>
                </c:pt>
                <c:pt idx="1">
                  <c:v>3.2</c:v>
                </c:pt>
                <c:pt idx="2">
                  <c:v>2.5</c:v>
                </c:pt>
                <c:pt idx="3">
                  <c:v>3.6</c:v>
                </c:pt>
                <c:pt idx="4">
                  <c:v>2.2999999999999998</c:v>
                </c:pt>
                <c:pt idx="5">
                  <c:v>3.8</c:v>
                </c:pt>
                <c:pt idx="6">
                  <c:v>3.1</c:v>
                </c:pt>
                <c:pt idx="7">
                  <c:v>2.6</c:v>
                </c:pt>
                <c:pt idx="8">
                  <c:v>3.4</c:v>
                </c:pt>
                <c:pt idx="9">
                  <c:v>2.9</c:v>
                </c:pt>
                <c:pt idx="10">
                  <c:v>3.7</c:v>
                </c:pt>
                <c:pt idx="11">
                  <c:v>2.4</c:v>
                </c:pt>
                <c:pt idx="12">
                  <c:v>3.3</c:v>
                </c:pt>
                <c:pt idx="13">
                  <c:v>2.7</c:v>
                </c:pt>
                <c:pt idx="14">
                  <c:v>3.9</c:v>
                </c:pt>
                <c:pt idx="15">
                  <c:v>2.2000000000000002</c:v>
                </c:pt>
                <c:pt idx="16">
                  <c:v>3.5</c:v>
                </c:pt>
                <c:pt idx="17">
                  <c:v>2.8</c:v>
                </c:pt>
                <c:pt idx="18">
                  <c:v>3.2</c:v>
                </c:pt>
                <c:pt idx="19">
                  <c:v>2.5</c:v>
                </c:pt>
                <c:pt idx="20">
                  <c:v>3.7</c:v>
                </c:pt>
                <c:pt idx="21">
                  <c:v>3</c:v>
                </c:pt>
                <c:pt idx="22">
                  <c:v>2.4</c:v>
                </c:pt>
                <c:pt idx="23">
                  <c:v>3.6</c:v>
                </c:pt>
                <c:pt idx="24">
                  <c:v>2.9</c:v>
                </c:pt>
                <c:pt idx="25">
                  <c:v>3.3</c:v>
                </c:pt>
                <c:pt idx="26">
                  <c:v>2.6</c:v>
                </c:pt>
                <c:pt idx="27">
                  <c:v>3.8</c:v>
                </c:pt>
                <c:pt idx="28">
                  <c:v>2.2999999999999998</c:v>
                </c:pt>
                <c:pt idx="29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D6-472D-863B-46E9AA953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Delta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ln w="3175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  <c:pt idx="12">
                  <c:v>2025-01</c:v>
                </c:pt>
                <c:pt idx="13">
                  <c:v>2025-02</c:v>
                </c:pt>
                <c:pt idx="14">
                  <c:v>2025-03</c:v>
                </c:pt>
                <c:pt idx="15">
                  <c:v>2025-04</c:v>
                </c:pt>
                <c:pt idx="16">
                  <c:v>2025-05</c:v>
                </c:pt>
                <c:pt idx="17">
                  <c:v>2025-06</c:v>
                </c:pt>
                <c:pt idx="18">
                  <c:v>2025-07</c:v>
                </c:pt>
                <c:pt idx="19">
                  <c:v>2025-08</c:v>
                </c:pt>
                <c:pt idx="20">
                  <c:v>2025-09</c:v>
                </c:pt>
                <c:pt idx="21">
                  <c:v>2025-10</c:v>
                </c:pt>
                <c:pt idx="22">
                  <c:v>2025-11</c:v>
                </c:pt>
                <c:pt idx="23">
                  <c:v>2025-12</c:v>
                </c:pt>
                <c:pt idx="24">
                  <c:v>2026-01</c:v>
                </c:pt>
                <c:pt idx="25">
                  <c:v>2026-02</c:v>
                </c:pt>
                <c:pt idx="26">
                  <c:v>2026-03</c:v>
                </c:pt>
                <c:pt idx="27">
                  <c:v>2026-04</c:v>
                </c:pt>
                <c:pt idx="28">
                  <c:v>2026-05</c:v>
                </c:pt>
                <c:pt idx="29">
                  <c:v>2026-06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-0.5</c:v>
                </c:pt>
                <c:pt idx="1">
                  <c:v>-0.3</c:v>
                </c:pt>
                <c:pt idx="2">
                  <c:v>0.4</c:v>
                </c:pt>
                <c:pt idx="3">
                  <c:v>0.1</c:v>
                </c:pt>
                <c:pt idx="4">
                  <c:v>0.8</c:v>
                </c:pt>
                <c:pt idx="5">
                  <c:v>1.2</c:v>
                </c:pt>
                <c:pt idx="6">
                  <c:v>1.5</c:v>
                </c:pt>
                <c:pt idx="7">
                  <c:v>0.9</c:v>
                </c:pt>
                <c:pt idx="8">
                  <c:v>0.3</c:v>
                </c:pt>
                <c:pt idx="9">
                  <c:v>-0.4</c:v>
                </c:pt>
                <c:pt idx="10">
                  <c:v>-0.9</c:v>
                </c:pt>
                <c:pt idx="11">
                  <c:v>0.2</c:v>
                </c:pt>
                <c:pt idx="12">
                  <c:v>-0.7</c:v>
                </c:pt>
                <c:pt idx="13">
                  <c:v>-0.2</c:v>
                </c:pt>
                <c:pt idx="14">
                  <c:v>0.6</c:v>
                </c:pt>
                <c:pt idx="15">
                  <c:v>0.3</c:v>
                </c:pt>
                <c:pt idx="16">
                  <c:v>1</c:v>
                </c:pt>
                <c:pt idx="17">
                  <c:v>1.8</c:v>
                </c:pt>
                <c:pt idx="18">
                  <c:v>2.1</c:v>
                </c:pt>
                <c:pt idx="19">
                  <c:v>1.3</c:v>
                </c:pt>
                <c:pt idx="20">
                  <c:v>0.6</c:v>
                </c:pt>
                <c:pt idx="21">
                  <c:v>-0.1</c:v>
                </c:pt>
                <c:pt idx="22">
                  <c:v>-0.8</c:v>
                </c:pt>
                <c:pt idx="23">
                  <c:v>0.3</c:v>
                </c:pt>
                <c:pt idx="24">
                  <c:v>-1.4</c:v>
                </c:pt>
                <c:pt idx="25">
                  <c:v>-0.8</c:v>
                </c:pt>
                <c:pt idx="26">
                  <c:v>0.2</c:v>
                </c:pt>
                <c:pt idx="27">
                  <c:v>-0.3</c:v>
                </c:pt>
                <c:pt idx="28">
                  <c:v>1.1000000000000001</c:v>
                </c:pt>
                <c:pt idx="2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3F-4728-B8FF-7799E5A80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zh-CN"/>
          </a:p>
        </c:txPr>
        <c:crossAx val="2140495176"/>
        <c:crossesAt val="-2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"/>
          <c:min val="-2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/>
              <a:t>PnL </a:t>
            </a:r>
            <a:r>
              <a:rPr lang="zh-CN" altLang="en-US"/>
              <a:t>工作日分布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</c:v>
                </c:pt>
                <c:pt idx="1">
                  <c:v>0.08</c:v>
                </c:pt>
                <c:pt idx="2">
                  <c:v>-0.03</c:v>
                </c:pt>
                <c:pt idx="3">
                  <c:v>0.15</c:v>
                </c:pt>
                <c:pt idx="4">
                  <c:v>0.09</c:v>
                </c:pt>
                <c:pt idx="5">
                  <c:v>6.5599999999999992E-2</c:v>
                </c:pt>
                <c:pt idx="6">
                  <c:v>7.3799999999999991E-2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F3-4F6F-8F3B-1B083A768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0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25"/>
          <c:min val="-0.1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dirty="0" err="1"/>
              <a:t>PnL</a:t>
            </a:r>
            <a:r>
              <a:rPr lang="en-US" dirty="0"/>
              <a:t> </a:t>
            </a:r>
            <a:r>
              <a:rPr lang="zh-CN" altLang="en-US" dirty="0"/>
              <a:t>月度分布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PnL</c:v>
                </c:pt>
              </c:strCache>
            </c:strRef>
          </c:tx>
          <c:spPr>
            <a:solidFill>
              <a:srgbClr val="2F5F98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0.18</c:v>
                </c:pt>
                <c:pt idx="1">
                  <c:v>-0.05</c:v>
                </c:pt>
                <c:pt idx="2">
                  <c:v>0.22</c:v>
                </c:pt>
                <c:pt idx="3">
                  <c:v>7.0000000000000007E-2</c:v>
                </c:pt>
                <c:pt idx="4">
                  <c:v>-0.11</c:v>
                </c:pt>
                <c:pt idx="5">
                  <c:v>0.14000000000000001</c:v>
                </c:pt>
                <c:pt idx="6">
                  <c:v>0.09</c:v>
                </c:pt>
                <c:pt idx="7">
                  <c:v>0.03</c:v>
                </c:pt>
                <c:pt idx="8">
                  <c:v>0.16</c:v>
                </c:pt>
                <c:pt idx="9">
                  <c:v>-0.08</c:v>
                </c:pt>
                <c:pt idx="10">
                  <c:v>0.2</c:v>
                </c:pt>
                <c:pt idx="11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4-424A-A8A2-3E5755BF7F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8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3"/>
          <c:min val="-0.1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8100">
              <a:solidFill>
                <a:srgbClr val="2F5F9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13</c:v>
                </c:pt>
                <c:pt idx="2">
                  <c:v>28</c:v>
                </c:pt>
                <c:pt idx="3">
                  <c:v>20</c:v>
                </c:pt>
                <c:pt idx="4">
                  <c:v>40</c:v>
                </c:pt>
                <c:pt idx="5">
                  <c:v>58</c:v>
                </c:pt>
                <c:pt idx="6">
                  <c:v>78</c:v>
                </c:pt>
                <c:pt idx="7">
                  <c:v>68</c:v>
                </c:pt>
                <c:pt idx="8">
                  <c:v>90</c:v>
                </c:pt>
                <c:pt idx="9">
                  <c:v>110</c:v>
                </c:pt>
                <c:pt idx="10">
                  <c:v>133</c:v>
                </c:pt>
                <c:pt idx="11">
                  <c:v>123</c:v>
                </c:pt>
                <c:pt idx="12">
                  <c:v>153</c:v>
                </c:pt>
                <c:pt idx="13">
                  <c:v>175</c:v>
                </c:pt>
                <c:pt idx="14">
                  <c:v>198</c:v>
                </c:pt>
                <c:pt idx="15">
                  <c:v>183</c:v>
                </c:pt>
                <c:pt idx="16">
                  <c:v>215</c:v>
                </c:pt>
                <c:pt idx="17">
                  <c:v>238</c:v>
                </c:pt>
                <c:pt idx="18">
                  <c:v>260</c:v>
                </c:pt>
                <c:pt idx="19">
                  <c:v>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90-4192-9408-BA3B7F3CB1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累计残差</c:v>
                </c:pt>
              </c:strCache>
            </c:strRef>
          </c:tx>
          <c:spPr>
            <a:ln w="38100">
              <a:solidFill>
                <a:srgbClr val="B64F4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2021Q1</c:v>
                </c:pt>
                <c:pt idx="1">
                  <c:v>2021Q2</c:v>
                </c:pt>
                <c:pt idx="2">
                  <c:v>2021Q3</c:v>
                </c:pt>
                <c:pt idx="3">
                  <c:v>2021Q4</c:v>
                </c:pt>
                <c:pt idx="4">
                  <c:v>2022Q1</c:v>
                </c:pt>
                <c:pt idx="5">
                  <c:v>2022Q2</c:v>
                </c:pt>
                <c:pt idx="6">
                  <c:v>2022Q3</c:v>
                </c:pt>
                <c:pt idx="7">
                  <c:v>2022Q4</c:v>
                </c:pt>
                <c:pt idx="8">
                  <c:v>2023Q1</c:v>
                </c:pt>
                <c:pt idx="9">
                  <c:v>2023Q2</c:v>
                </c:pt>
                <c:pt idx="10">
                  <c:v>2023Q3</c:v>
                </c:pt>
                <c:pt idx="11">
                  <c:v>2023Q4</c:v>
                </c:pt>
                <c:pt idx="12">
                  <c:v>2024Q1</c:v>
                </c:pt>
                <c:pt idx="13">
                  <c:v>2024Q2</c:v>
                </c:pt>
                <c:pt idx="14">
                  <c:v>2024Q3</c:v>
                </c:pt>
                <c:pt idx="15">
                  <c:v>2024Q4</c:v>
                </c:pt>
                <c:pt idx="16">
                  <c:v>2025Q1</c:v>
                </c:pt>
                <c:pt idx="17">
                  <c:v>2025Q2</c:v>
                </c:pt>
                <c:pt idx="18">
                  <c:v>2025Q3</c:v>
                </c:pt>
                <c:pt idx="19">
                  <c:v>2025Q4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10</c:v>
                </c:pt>
                <c:pt idx="5">
                  <c:v>14</c:v>
                </c:pt>
                <c:pt idx="6">
                  <c:v>19</c:v>
                </c:pt>
                <c:pt idx="7">
                  <c:v>17</c:v>
                </c:pt>
                <c:pt idx="8">
                  <c:v>22</c:v>
                </c:pt>
                <c:pt idx="9">
                  <c:v>27</c:v>
                </c:pt>
                <c:pt idx="10">
                  <c:v>33</c:v>
                </c:pt>
                <c:pt idx="11">
                  <c:v>30</c:v>
                </c:pt>
                <c:pt idx="12">
                  <c:v>37</c:v>
                </c:pt>
                <c:pt idx="13">
                  <c:v>43</c:v>
                </c:pt>
                <c:pt idx="14">
                  <c:v>49</c:v>
                </c:pt>
                <c:pt idx="15">
                  <c:v>46</c:v>
                </c:pt>
                <c:pt idx="16">
                  <c:v>54</c:v>
                </c:pt>
                <c:pt idx="17">
                  <c:v>61</c:v>
                </c:pt>
                <c:pt idx="18">
                  <c:v>68</c:v>
                </c:pt>
                <c:pt idx="1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90-4192-9408-BA3B7F3CB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0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日内收益率</c:v>
                </c:pt>
              </c:strCache>
            </c:strRef>
          </c:tx>
          <c:spPr>
            <a:ln w="28575">
              <a:solidFill>
                <a:srgbClr val="2F5F98"/>
              </a:solidFill>
            </a:ln>
          </c:spPr>
          <c:cat>
            <c:strRef>
              <c:f>Sheet1!$A$2:$A$17</c:f>
              <c:strCache>
                <c:ptCount val="16"/>
                <c:pt idx="0">
                  <c:v>00:00</c:v>
                </c:pt>
                <c:pt idx="1">
                  <c:v>01:30</c:v>
                </c:pt>
                <c:pt idx="2">
                  <c:v>03:00</c:v>
                </c:pt>
                <c:pt idx="3">
                  <c:v>04:30</c:v>
                </c:pt>
                <c:pt idx="4">
                  <c:v>06:00</c:v>
                </c:pt>
                <c:pt idx="5">
                  <c:v>07:30</c:v>
                </c:pt>
                <c:pt idx="6">
                  <c:v>09:00</c:v>
                </c:pt>
                <c:pt idx="7">
                  <c:v>10:30</c:v>
                </c:pt>
                <c:pt idx="8">
                  <c:v>12:00</c:v>
                </c:pt>
                <c:pt idx="9">
                  <c:v>13:30</c:v>
                </c:pt>
                <c:pt idx="10">
                  <c:v>15:00</c:v>
                </c:pt>
                <c:pt idx="11">
                  <c:v>16:30</c:v>
                </c:pt>
                <c:pt idx="12">
                  <c:v>18:00</c:v>
                </c:pt>
                <c:pt idx="13">
                  <c:v>19:30</c:v>
                </c:pt>
                <c:pt idx="14">
                  <c:v>21:00</c:v>
                </c:pt>
                <c:pt idx="15">
                  <c:v>24:00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0.11</c:v>
                </c:pt>
                <c:pt idx="2">
                  <c:v>0.112</c:v>
                </c:pt>
                <c:pt idx="3">
                  <c:v>0.115</c:v>
                </c:pt>
                <c:pt idx="4">
                  <c:v>0.11799999999999999</c:v>
                </c:pt>
                <c:pt idx="5">
                  <c:v>0.121</c:v>
                </c:pt>
                <c:pt idx="6">
                  <c:v>0.124</c:v>
                </c:pt>
                <c:pt idx="7">
                  <c:v>0.127</c:v>
                </c:pt>
                <c:pt idx="8">
                  <c:v>0.129</c:v>
                </c:pt>
                <c:pt idx="9">
                  <c:v>0.13</c:v>
                </c:pt>
                <c:pt idx="10">
                  <c:v>0.20499999999999999</c:v>
                </c:pt>
                <c:pt idx="11">
                  <c:v>0.20799999999999999</c:v>
                </c:pt>
                <c:pt idx="12">
                  <c:v>0.21099999999999999</c:v>
                </c:pt>
                <c:pt idx="13">
                  <c:v>0.215</c:v>
                </c:pt>
                <c:pt idx="14">
                  <c:v>0.219</c:v>
                </c:pt>
                <c:pt idx="15">
                  <c:v>0.223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B9-4486-9358-BC675578E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28E8B-910F-40E5-8D37-3618A8D98E67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9E099-52E9-4CD3-93E5-25DC087876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9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00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78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746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3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67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1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900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503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194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06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E099-52E9-4CD3-93E5-25DC087876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9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194560" cy="109728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2194560" cy="109728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682495"/>
            <a:ext cx="2194560" cy="109728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74519"/>
            <a:ext cx="162095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CTA</a:t>
            </a:r>
          </a:p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投研框架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8779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32B4A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从数据、因子到组合与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1200" y="2197099"/>
            <a:ext cx="6698116" cy="6822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23944"/>
                </a:solidFill>
                <a:latin typeface="Microsoft YaHei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CTA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投研框架总览，聚焦策略研发关键链路：数据、因子、评估、组合、风控</a:t>
            </a:r>
          </a:p>
          <a:p>
            <a:pPr>
              <a:spcAft>
                <a:spcPts val="1000"/>
              </a:spcAft>
              <a:defRPr sz="1500">
                <a:solidFill>
                  <a:srgbClr val="323944"/>
                </a:solidFill>
                <a:latin typeface="Microsoft YaHei"/>
              </a:defRPr>
            </a:pPr>
            <a:r>
              <a:t>目标：构建稳定、可扩展、可解释的Crypto 衍生品量化体系。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54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策略主线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40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组合增益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4709160"/>
            <a:ext cx="2057400" cy="59436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26870" y="4800600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风险约束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3C7B29-05DB-5532-3A89-398EE4BD1F2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B04D8D-0748-77A5-9002-E3BDC1CAE545}"/>
              </a:ext>
            </a:extLst>
          </p:cNvPr>
          <p:cNvSpPr txBox="1"/>
          <p:nvPr/>
        </p:nvSpPr>
        <p:spPr>
          <a:xfrm>
            <a:off x="736600" y="355600"/>
            <a:ext cx="5334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投研流程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3007C0-59B8-EB7A-9F56-831C6E78DC50}"/>
              </a:ext>
            </a:extLst>
          </p:cNvPr>
          <p:cNvSpPr txBox="1"/>
          <p:nvPr/>
        </p:nvSpPr>
        <p:spPr>
          <a:xfrm>
            <a:off x="787400" y="1168400"/>
            <a:ext cx="990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zh-CN" altLang="en-US" sz="1600" dirty="0">
              <a:solidFill>
                <a:srgbClr val="2F6B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66A34E-A808-9D9E-7822-6D32042AC660}"/>
              </a:ext>
            </a:extLst>
          </p:cNvPr>
          <p:cNvSpPr/>
          <p:nvPr/>
        </p:nvSpPr>
        <p:spPr>
          <a:xfrm>
            <a:off x="2897745" y="2782787"/>
            <a:ext cx="1500745" cy="1397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r>
              <a:rPr lang="en-US" altLang="zh-CN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/DB</a:t>
            </a:r>
            <a:endParaRPr lang="zh-CN" altLang="en-US" sz="20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E6FF56-E7ED-338B-043E-38BDA677F3E7}"/>
              </a:ext>
            </a:extLst>
          </p:cNvPr>
          <p:cNvSpPr/>
          <p:nvPr/>
        </p:nvSpPr>
        <p:spPr>
          <a:xfrm>
            <a:off x="5342495" y="2560846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63E372-DFD6-8D80-121B-A97910A836F6}"/>
              </a:ext>
            </a:extLst>
          </p:cNvPr>
          <p:cNvSpPr/>
          <p:nvPr/>
        </p:nvSpPr>
        <p:spPr>
          <a:xfrm>
            <a:off x="5342495" y="3134623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82461B-9D74-0A02-17C9-E5018AE85831}"/>
              </a:ext>
            </a:extLst>
          </p:cNvPr>
          <p:cNvSpPr/>
          <p:nvPr/>
        </p:nvSpPr>
        <p:spPr>
          <a:xfrm>
            <a:off x="5342495" y="3723377"/>
            <a:ext cx="1905000" cy="5588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endParaRPr lang="zh-CN" altLang="en-US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4EDDA0-29F9-FC65-AFBA-4EAFA9FF43EA}"/>
              </a:ext>
            </a:extLst>
          </p:cNvPr>
          <p:cNvSpPr/>
          <p:nvPr/>
        </p:nvSpPr>
        <p:spPr>
          <a:xfrm>
            <a:off x="8191501" y="2966808"/>
            <a:ext cx="2032000" cy="9144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组合优化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E818A8-3B40-E2D3-15C6-5EE72CFFEEB4}"/>
              </a:ext>
            </a:extLst>
          </p:cNvPr>
          <p:cNvSpPr/>
          <p:nvPr/>
        </p:nvSpPr>
        <p:spPr>
          <a:xfrm>
            <a:off x="8191499" y="1337677"/>
            <a:ext cx="2015797" cy="7112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1E9424-9806-9EF2-9064-28DEC397CA98}"/>
              </a:ext>
            </a:extLst>
          </p:cNvPr>
          <p:cNvSpPr/>
          <p:nvPr/>
        </p:nvSpPr>
        <p:spPr>
          <a:xfrm>
            <a:off x="8191501" y="4785623"/>
            <a:ext cx="2032000" cy="836131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算法交易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6A05377-0792-C080-87C2-EB34F911004D}"/>
              </a:ext>
            </a:extLst>
          </p:cNvPr>
          <p:cNvCxnSpPr/>
          <p:nvPr/>
        </p:nvCxnSpPr>
        <p:spPr>
          <a:xfrm>
            <a:off x="2187422" y="3487768"/>
            <a:ext cx="5969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461DA9C-1629-A78E-2450-54A112D649E2}"/>
              </a:ext>
            </a:extLst>
          </p:cNvPr>
          <p:cNvCxnSpPr/>
          <p:nvPr/>
        </p:nvCxnSpPr>
        <p:spPr>
          <a:xfrm>
            <a:off x="7316864" y="3414023"/>
            <a:ext cx="8255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B1C8F00-CE18-3A1B-ABA7-B93D047FB590}"/>
              </a:ext>
            </a:extLst>
          </p:cNvPr>
          <p:cNvCxnSpPr/>
          <p:nvPr/>
        </p:nvCxnSpPr>
        <p:spPr>
          <a:xfrm>
            <a:off x="4516997" y="3481287"/>
            <a:ext cx="762000" cy="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87A9F6-5A30-F782-41A2-B5D9E2389DA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207501" y="3881208"/>
            <a:ext cx="1" cy="91440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39264488-92E8-7C40-6568-E978ED31BBBB}"/>
              </a:ext>
            </a:extLst>
          </p:cNvPr>
          <p:cNvSpPr/>
          <p:nvPr/>
        </p:nvSpPr>
        <p:spPr>
          <a:xfrm>
            <a:off x="853528" y="3037224"/>
            <a:ext cx="1241973" cy="901087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数据源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D17D39-FD58-1AA8-BC98-B0DD0616E5E8}"/>
              </a:ext>
            </a:extLst>
          </p:cNvPr>
          <p:cNvCxnSpPr>
            <a:cxnSpLocks/>
          </p:cNvCxnSpPr>
          <p:nvPr/>
        </p:nvCxnSpPr>
        <p:spPr>
          <a:xfrm>
            <a:off x="9132877" y="2042423"/>
            <a:ext cx="1" cy="914400"/>
          </a:xfrm>
          <a:prstGeom prst="line">
            <a:avLst/>
          </a:prstGeom>
          <a:ln w="17780">
            <a:solidFill>
              <a:srgbClr val="969E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83CB081-8BDF-1DA2-A7D5-3678195CBA6B}"/>
              </a:ext>
            </a:extLst>
          </p:cNvPr>
          <p:cNvSpPr txBox="1"/>
          <p:nvPr/>
        </p:nvSpPr>
        <p:spPr>
          <a:xfrm>
            <a:off x="2040495" y="3655441"/>
            <a:ext cx="889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10491-6254-9685-1EBF-DA04570BDDA2}"/>
              </a:ext>
            </a:extLst>
          </p:cNvPr>
          <p:cNvSpPr txBox="1"/>
          <p:nvPr/>
        </p:nvSpPr>
        <p:spPr>
          <a:xfrm>
            <a:off x="7249598" y="3604209"/>
            <a:ext cx="990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组合最优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45227B-374D-3A68-D63A-566591CE4FB9}"/>
              </a:ext>
            </a:extLst>
          </p:cNvPr>
          <p:cNvSpPr txBox="1"/>
          <p:nvPr/>
        </p:nvSpPr>
        <p:spPr>
          <a:xfrm>
            <a:off x="9038896" y="2444936"/>
            <a:ext cx="1168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风控约束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462768-9805-E30B-E673-65FA02360CBE}"/>
              </a:ext>
            </a:extLst>
          </p:cNvPr>
          <p:cNvSpPr txBox="1"/>
          <p:nvPr/>
        </p:nvSpPr>
        <p:spPr>
          <a:xfrm>
            <a:off x="9199397" y="4238206"/>
            <a:ext cx="1371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执行目标仓位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DA7A73-2389-7870-1B44-4643D6D9983A}"/>
              </a:ext>
            </a:extLst>
          </p:cNvPr>
          <p:cNvSpPr txBox="1"/>
          <p:nvPr/>
        </p:nvSpPr>
        <p:spPr>
          <a:xfrm>
            <a:off x="4108493" y="3697715"/>
            <a:ext cx="15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因子挖掘</a:t>
            </a:r>
            <a:endParaRPr lang="en-US" altLang="zh-CN" sz="1200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因子标准化</a:t>
            </a:r>
          </a:p>
        </p:txBody>
      </p:sp>
    </p:spTree>
    <p:extLst>
      <p:ext uri="{BB962C8B-B14F-4D97-AF65-F5344CB8AC3E}">
        <p14:creationId xmlns:p14="http://schemas.microsoft.com/office/powerpoint/2010/main" val="158997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55097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数据覆盖决定信号来源，数据质量决定策略上限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645920"/>
            <a:ext cx="5000000" cy="42976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000" y="1645920"/>
            <a:ext cx="500000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1168" y="1901952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5F98"/>
                </a:solidFill>
                <a:latin typeface="Microsoft YaHei"/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量价数据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1168" y="2414016"/>
            <a:ext cx="4634240" cy="1964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线、订单簿快照、逐笔成交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交易所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cryptofeed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/Tardis</a:t>
            </a: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用途：构建趋势、反转、波动率、量仓共振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与微观结构类因子</a:t>
            </a: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频率：覆盖毫秒级到日频</a:t>
            </a:r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90000" y="1645920"/>
            <a:ext cx="5000000" cy="4297680"/>
          </a:xfrm>
          <a:prstGeom prst="roundRect">
            <a:avLst/>
          </a:prstGeom>
          <a:solidFill>
            <a:srgbClr val="E8F3F0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90000" y="1645920"/>
            <a:ext cx="500000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1168" y="1901952"/>
            <a:ext cx="24929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7766D"/>
                </a:solidFill>
                <a:latin typeface="Microsoft YaHei"/>
              </a:defRPr>
            </a:pPr>
            <a:r>
              <a:rPr sz="2000" dirty="0" err="1"/>
              <a:t>链上与特定结构数据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591168" y="2414016"/>
            <a:ext cx="4634240" cy="216469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资金费率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大额链上转账、爆仓清算数据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数据来源：Binance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Coinglass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Glassnode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用途：支持期现套利与资金流向分析、市场多空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情绪判断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频率：覆盖范围广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307007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将复杂市场拆解为可量化表达的信号模块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691640"/>
            <a:ext cx="5000000" cy="44805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000" y="1691640"/>
            <a:ext cx="500000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1168" y="1947672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量价因子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1168" y="2459736"/>
            <a:ext cx="4634240" cy="214930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分类：趋势类、反转类、微观结构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sz="1400" dirty="0" err="1"/>
              <a:t>示例：买卖压力结构</a:t>
            </a:r>
            <a:r>
              <a:rPr sz="1400" dirty="0"/>
              <a:t> (</a:t>
            </a:r>
            <a:r>
              <a:rPr sz="1400" dirty="0" err="1"/>
              <a:t>BuyingSellingPressure</a:t>
            </a:r>
            <a:r>
              <a:rPr sz="1400" dirty="0"/>
              <a:t>)、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sz="1400" dirty="0"/>
              <a:t>          </a:t>
            </a:r>
            <a:r>
              <a:rPr sz="1400" dirty="0" err="1"/>
              <a:t>资金流入流出</a:t>
            </a:r>
            <a:r>
              <a:rPr sz="1400" dirty="0"/>
              <a:t> (</a:t>
            </a:r>
            <a:r>
              <a:rPr sz="1400" dirty="0" err="1"/>
              <a:t>OIPriceFlow</a:t>
            </a:r>
            <a:r>
              <a:rPr sz="1400" dirty="0"/>
              <a:t>)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特点：更新频率高、响应速度快，可直接映 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射交易行为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90000" y="1691640"/>
            <a:ext cx="5000000" cy="4480560"/>
          </a:xfrm>
          <a:prstGeom prst="roundRect">
            <a:avLst/>
          </a:prstGeom>
          <a:solidFill>
            <a:srgbClr val="E8F3F0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90000" y="1691640"/>
            <a:ext cx="5000000" cy="146304"/>
          </a:xfrm>
          <a:prstGeom prst="rect">
            <a:avLst/>
          </a:prstGeom>
          <a:solidFill>
            <a:srgbClr val="27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1168" y="1947672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66D"/>
                </a:solidFill>
                <a:latin typeface="Microsoft YaHei"/>
              </a:defRPr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其余</a:t>
            </a: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1168" y="2459736"/>
            <a:ext cx="4634240" cy="15132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资金费率、做市商策略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示例：永续-现货基差套利、资金费率套利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特点：经济含义清晰、跨周期解释力强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03187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不仅评估单因子收益，还评估其对现有组合的边际增益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423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42316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1942" y="185623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基础指标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2368296"/>
            <a:ext cx="2057400" cy="2739211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夏普比率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最大回撤深度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最大回撤时长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持仓周期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滑点敏感度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策略容量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46120" y="1645920"/>
          <a:ext cx="4434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26679" y="1645920"/>
          <a:ext cx="397763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46120" y="3794760"/>
          <a:ext cx="4434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726679" y="3794760"/>
          <a:ext cx="397763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B64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增量评估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51277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通过新因子累计与残差累计判断新增信号对原组合的边际贡献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31720" y="1463040"/>
          <a:ext cx="7543800" cy="2162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6041" y="1259840"/>
            <a:ext cx="151515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累计收益率/累计残差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3733" y="3727196"/>
            <a:ext cx="38597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因子收益率_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 β · 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Portfolio收益率_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ε_</a:t>
            </a:r>
            <a:r>
              <a:rPr lang="en-US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endParaRPr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17562" y="4104640"/>
            <a:ext cx="11721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日内累计收益率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331720" y="4409440"/>
          <a:ext cx="754380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5183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B4A"/>
                </a:solidFill>
                <a:latin typeface="Microsoft YaHei"/>
              </a:defRPr>
            </a:pPr>
            <a:r>
              <a:rPr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投资组合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504817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组合不是简单叠加高Sharpe因子，而是在相关性约束下实现稳定输出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000" y="1645920"/>
            <a:ext cx="4700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0000" y="1645920"/>
            <a:ext cx="4700000" cy="146304"/>
          </a:xfrm>
          <a:prstGeom prst="rect">
            <a:avLst/>
          </a:prstGeom>
          <a:solidFill>
            <a:srgbClr val="2F5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0000" y="1901952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5F98"/>
                </a:solidFill>
                <a:latin typeface="Microsoft YaHei"/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核心原则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20000" y="2414016"/>
            <a:ext cx="4260000" cy="190308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基于波动率的风险平均模型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分配资产权重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新因子与现有组合须保持低相关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评估标准是整体组合增益，而非单腿收益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单策略权重设上限，防止局部主导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00000" y="1645920"/>
            <a:ext cx="4700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00000" y="1645920"/>
            <a:ext cx="4700000" cy="146304"/>
          </a:xfrm>
          <a:prstGeom prst="rect">
            <a:avLst/>
          </a:prstGeom>
          <a:solidFill>
            <a:srgbClr val="AC7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0000" y="1901952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7626"/>
                </a:solidFill>
                <a:latin typeface="Microsoft YaHei"/>
              </a:defRPr>
            </a:pPr>
            <a:r>
              <a:rPr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落地判断</a:t>
            </a:r>
            <a:endParaRPr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0000" y="2414016"/>
            <a:ext cx="4260000" cy="190308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需强控单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币种</a:t>
            </a: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持仓及总尾部风险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关注净值平滑度与回撤修复速度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相关性、容量与换手联合约束</a:t>
            </a: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500"/>
              </a:spcAft>
              <a:defRPr sz="1300">
                <a:solidFill>
                  <a:srgbClr val="323944"/>
                </a:solidFill>
                <a:latin typeface="Microsoft YaHei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同等收益下优选低交易成本方案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F7885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274320"/>
            <a:ext cx="1645920" cy="34747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515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451277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Microsoft YaHei"/>
              </a:defRPr>
            </a:pPr>
            <a:r>
              <a:rPr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风控目标不是压制收益，而是确保组合在极端环境下仍可管理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500000" cy="155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20000"/>
            <a:ext cx="10500000" cy="146304"/>
          </a:xfrm>
          <a:prstGeom prst="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0000" y="1860000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000" y="2260000"/>
            <a:ext cx="9800000" cy="489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流动性限制：根据不同币种的流动性建立交易池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集中度限制：单币种占比不得超过阈值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5200000"/>
            <a:ext cx="10500000" cy="150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0000" y="544000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异常情况处理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000" y="5840000"/>
            <a:ext cx="9800000" cy="489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dirty="0" err="1"/>
              <a:t>系统级隔离CEX倒闭与API限流风险</a:t>
            </a:r>
            <a:endParaRPr dirty="0"/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dirty="0" err="1"/>
              <a:t>交易所脱机自动断开重连，全网连环爆仓触发熔断</a:t>
            </a:r>
            <a:r>
              <a:rPr lang="zh-CN" altLang="en-US" dirty="0"/>
              <a:t>。</a:t>
            </a:r>
            <a:endParaRPr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340000"/>
            <a:ext cx="10500000" cy="1720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340000"/>
            <a:ext cx="10500000" cy="146304"/>
          </a:xfrm>
          <a:prstGeom prst="rect">
            <a:avLst/>
          </a:prstGeom>
          <a:solidFill>
            <a:srgbClr val="3674B5"/>
          </a:solidFill>
          <a:ln>
            <a:solidFill>
              <a:srgbClr val="36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000" y="358000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rPr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仓位系数管理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00" y="4089332"/>
            <a:ext cx="9800000" cy="48987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第一层：触发预警线、止损线后，自动下调组合仓位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Microsoft YaHei"/>
              </a:defRPr>
            </a:pPr>
            <a:r>
              <a:rPr lang="zh-CN" altLang="en-US" dirty="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第二层：当某类策略持续回撤时，逐步下调该策略仓位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23252" y="6437376"/>
            <a:ext cx="3353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Microsoft YaHei"/>
              </a:defRPr>
            </a:pPr>
            <a:r>
              <a:rPr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00000"/>
            <a:ext cx="10500000" cy="146304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1CAFD0-4C88-9211-E63D-DDC830201F7C}"/>
              </a:ext>
            </a:extLst>
          </p:cNvPr>
          <p:cNvSpPr txBox="1"/>
          <p:nvPr/>
        </p:nvSpPr>
        <p:spPr>
          <a:xfrm>
            <a:off x="431800" y="203200"/>
            <a:ext cx="11328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传统机构 CTA 组合的启示</a:t>
            </a:r>
            <a:endParaRPr lang="zh-CN" altLang="en-US" sz="2800" b="1" dirty="0">
              <a:solidFill>
                <a:srgbClr val="1F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1B4D2DA-E37C-AADE-8D85-8083784655C0}"/>
              </a:ext>
            </a:extLst>
          </p:cNvPr>
          <p:cNvSpPr/>
          <p:nvPr/>
        </p:nvSpPr>
        <p:spPr>
          <a:xfrm>
            <a:off x="3048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chemeClr val="tx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F7683B-EAD3-96CD-12ED-EFAA253EC3EE}"/>
              </a:ext>
            </a:extLst>
          </p:cNvPr>
          <p:cNvSpPr/>
          <p:nvPr/>
        </p:nvSpPr>
        <p:spPr>
          <a:xfrm>
            <a:off x="3048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7B982-87B4-32CA-01BC-CFFB4D71CB63}"/>
              </a:ext>
            </a:extLst>
          </p:cNvPr>
          <p:cNvSpPr txBox="1"/>
          <p:nvPr/>
        </p:nvSpPr>
        <p:spPr>
          <a:xfrm>
            <a:off x="4953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FEED40-7EBF-0CCB-0C74-89DED617E758}"/>
              </a:ext>
            </a:extLst>
          </p:cNvPr>
          <p:cNvSpPr txBox="1"/>
          <p:nvPr/>
        </p:nvSpPr>
        <p:spPr>
          <a:xfrm>
            <a:off x="4953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主观基本面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量化宏观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全球宏观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短线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中长期趋势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CC7E5F-933B-0352-0BFD-A75E0C18445D}"/>
              </a:ext>
            </a:extLst>
          </p:cNvPr>
          <p:cNvSpPr txBox="1"/>
          <p:nvPr/>
        </p:nvSpPr>
        <p:spPr>
          <a:xfrm>
            <a:off x="4953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972078-0E2E-C434-F2B6-178D727C6B2E}"/>
              </a:ext>
            </a:extLst>
          </p:cNvPr>
          <p:cNvSpPr txBox="1"/>
          <p:nvPr/>
        </p:nvSpPr>
        <p:spPr>
          <a:xfrm>
            <a:off x="495300" y="4216400"/>
            <a:ext cx="3048000" cy="5079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策略种类极其丰富，策略跨周期、跨品种、跨风格，能较好提升组合稳定性。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F758A4-FF81-87DC-CB64-D73BA18584D4}"/>
              </a:ext>
            </a:extLst>
          </p:cNvPr>
          <p:cNvSpPr/>
          <p:nvPr/>
        </p:nvSpPr>
        <p:spPr>
          <a:xfrm>
            <a:off x="43815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rgbClr val="47556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CA49A2-D825-5FCF-848C-C167E569C95D}"/>
              </a:ext>
            </a:extLst>
          </p:cNvPr>
          <p:cNvSpPr/>
          <p:nvPr/>
        </p:nvSpPr>
        <p:spPr>
          <a:xfrm>
            <a:off x="43815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73354E-3164-8F42-5DF7-441F2E1FCB72}"/>
              </a:ext>
            </a:extLst>
          </p:cNvPr>
          <p:cNvSpPr txBox="1"/>
          <p:nvPr/>
        </p:nvSpPr>
        <p:spPr>
          <a:xfrm>
            <a:off x="45720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BA220D-7716-982A-ACD9-421F304F718D}"/>
              </a:ext>
            </a:extLst>
          </p:cNvPr>
          <p:cNvSpPr txBox="1"/>
          <p:nvPr/>
        </p:nvSpPr>
        <p:spPr>
          <a:xfrm>
            <a:off x="45720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趋势策略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期限结构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量化基本面 </a:t>
            </a:r>
            <a:r>
              <a:rPr lang="en-US" altLang="zh-CN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3F5576-DB4D-F7BD-7294-50E793835F04}"/>
              </a:ext>
            </a:extLst>
          </p:cNvPr>
          <p:cNvSpPr txBox="1"/>
          <p:nvPr/>
        </p:nvSpPr>
        <p:spPr>
          <a:xfrm>
            <a:off x="45720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F051CD-F1FB-BC47-9B88-82001B8E6AC6}"/>
              </a:ext>
            </a:extLst>
          </p:cNvPr>
          <p:cNvSpPr txBox="1"/>
          <p:nvPr/>
        </p:nvSpPr>
        <p:spPr>
          <a:xfrm>
            <a:off x="4572000" y="4216400"/>
            <a:ext cx="3048000" cy="724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三大类子策略相关性低，偏中长周期。擅长抓住大趋势，在波动低的震荡市较难获取收益。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74B444-A9C8-9833-2F07-F4B12D8719D6}"/>
              </a:ext>
            </a:extLst>
          </p:cNvPr>
          <p:cNvSpPr/>
          <p:nvPr/>
        </p:nvSpPr>
        <p:spPr>
          <a:xfrm>
            <a:off x="8458200" y="1244600"/>
            <a:ext cx="3429000" cy="558800"/>
          </a:xfrm>
          <a:prstGeom prst="ellipse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2700" cap="flat" cmpd="sng" algn="ctr">
            <a:solidFill>
              <a:srgbClr val="47556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竞品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304353-D902-3BF2-D136-71F4DD3D7A2A}"/>
              </a:ext>
            </a:extLst>
          </p:cNvPr>
          <p:cNvSpPr/>
          <p:nvPr/>
        </p:nvSpPr>
        <p:spPr>
          <a:xfrm>
            <a:off x="8458200" y="1879600"/>
            <a:ext cx="3429000" cy="4191000"/>
          </a:xfrm>
          <a:prstGeom prst="rect">
            <a:avLst/>
          </a:prstGeom>
          <a:gradFill flip="none" rotWithShape="1">
            <a:gsLst>
              <a:gs pos="0">
                <a:srgbClr val="F9FB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4DCEEA-751E-0316-D3AE-AB0B339AC1FD}"/>
              </a:ext>
            </a:extLst>
          </p:cNvPr>
          <p:cNvSpPr txBox="1"/>
          <p:nvPr/>
        </p:nvSpPr>
        <p:spPr>
          <a:xfrm>
            <a:off x="8648700" y="2108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策略组合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7A91744-D5FB-2BA6-9A18-B35D1B3F3A3D}"/>
              </a:ext>
            </a:extLst>
          </p:cNvPr>
          <p:cNvSpPr txBox="1"/>
          <p:nvPr/>
        </p:nvSpPr>
        <p:spPr>
          <a:xfrm>
            <a:off x="8648700" y="2438400"/>
            <a:ext cx="3048000" cy="6211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反转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套利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基本面量化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</a:t>
            </a:r>
            <a:r>
              <a:rPr lang="en-US" altLang="zh-CN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期限结构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A0E07A-0CE4-FC7E-AA4A-483103DAFB9E}"/>
              </a:ext>
            </a:extLst>
          </p:cNvPr>
          <p:cNvSpPr txBox="1"/>
          <p:nvPr/>
        </p:nvSpPr>
        <p:spPr>
          <a:xfrm>
            <a:off x="8648700" y="3886200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5A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策略特点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B27CEEE-8085-3034-74ED-07C1517C07A2}"/>
              </a:ext>
            </a:extLst>
          </p:cNvPr>
          <p:cNvSpPr txBox="1"/>
          <p:nvPr/>
        </p:nvSpPr>
        <p:spPr>
          <a:xfrm>
            <a:off x="8648700" y="4216400"/>
            <a:ext cx="3048000" cy="7240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策略类别丰富，稳定性较强。整体波动率较低，持仓周期较短，擅长抓住短期盈利机会，大行情下爆发力不足。</a:t>
            </a:r>
          </a:p>
        </p:txBody>
      </p:sp>
    </p:spTree>
    <p:extLst>
      <p:ext uri="{BB962C8B-B14F-4D97-AF65-F5344CB8AC3E}">
        <p14:creationId xmlns:p14="http://schemas.microsoft.com/office/powerpoint/2010/main" val="169508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A9EA8C-BD68-EC55-1E41-B0BCA0EC9093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B1333E-48CB-9927-2F06-0015C4D5E5B3}"/>
              </a:ext>
            </a:extLst>
          </p:cNvPr>
          <p:cNvSpPr txBox="1"/>
          <p:nvPr/>
        </p:nvSpPr>
        <p:spPr>
          <a:xfrm>
            <a:off x="457200" y="228600"/>
            <a:ext cx="11277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成功经验总结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E71DF8-21E3-5DEB-714C-02D73EFD12F7}"/>
              </a:ext>
            </a:extLst>
          </p:cNvPr>
          <p:cNvSpPr/>
          <p:nvPr/>
        </p:nvSpPr>
        <p:spPr>
          <a:xfrm>
            <a:off x="507999" y="1270000"/>
            <a:ext cx="10717047" cy="431800"/>
          </a:xfrm>
          <a:prstGeom prst="rect">
            <a:avLst/>
          </a:prstGeom>
          <a:gradFill flip="none" rotWithShape="1">
            <a:gsLst>
              <a:gs pos="0">
                <a:srgbClr val="6969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成功经验总结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AB186F-22F0-DD76-A65D-4FAF228A4E4F}"/>
              </a:ext>
            </a:extLst>
          </p:cNvPr>
          <p:cNvSpPr/>
          <p:nvPr/>
        </p:nvSpPr>
        <p:spPr>
          <a:xfrm>
            <a:off x="508000" y="1701800"/>
            <a:ext cx="10717048" cy="4572000"/>
          </a:xfrm>
          <a:prstGeom prst="rect">
            <a:avLst/>
          </a:prstGeom>
          <a:gradFill flip="none" rotWithShape="1">
            <a:gsLst>
              <a:gs pos="0">
                <a:srgbClr val="F0F9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A321C3-FC1B-15EF-E43F-B9D64EB3F31C}"/>
              </a:ext>
            </a:extLst>
          </p:cNvPr>
          <p:cNvSpPr txBox="1"/>
          <p:nvPr/>
        </p:nvSpPr>
        <p:spPr>
          <a:xfrm>
            <a:off x="685799" y="1854200"/>
            <a:ext cx="10331143" cy="41242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多策略并行与低相关叠加，降低单一策略依赖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2.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从多策略扩展到多层次组合优化（因子层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组合层）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3.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强调风险控制与回撤管理，先求稳健再求收益</a:t>
            </a:r>
          </a:p>
          <a:p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流程工程化（数据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执行）提升迭代效率</a:t>
            </a:r>
          </a:p>
          <a:p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5.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研究、交易、风控分工明确，上线与下线机制成熟</a:t>
            </a:r>
          </a:p>
          <a:p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6.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持续复盘与参数更新，形成稳定的策略生命周期管理</a:t>
            </a:r>
          </a:p>
          <a:p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7.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科学地进行因子管理和版本迭代，以保证可追溯性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8.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从收益导向走向容量与成本导向（冲击成本、流动性约束）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3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endParaRPr lang="zh-CN" altLang="en-US" sz="13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065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B276DC-C148-0738-539B-25B7926AE86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gradFill flip="none" rotWithShape="1">
            <a:gsLst>
              <a:gs pos="0">
                <a:srgbClr val="969E9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4857E6-F918-C09A-E643-1E5208AC6224}"/>
              </a:ext>
            </a:extLst>
          </p:cNvPr>
          <p:cNvSpPr txBox="1"/>
          <p:nvPr/>
        </p:nvSpPr>
        <p:spPr>
          <a:xfrm>
            <a:off x="0" y="2159000"/>
            <a:ext cx="12192000" cy="70788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lang="zh-CN" altLang="en-US" sz="4000" b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致谢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555AE2-5785-AF9B-9044-428FC698B355}"/>
              </a:ext>
            </a:extLst>
          </p:cNvPr>
          <p:cNvSpPr txBox="1"/>
          <p:nvPr/>
        </p:nvSpPr>
        <p:spPr>
          <a:xfrm>
            <a:off x="0" y="311150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20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7363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1517E07B4A735E9ECDBF00F0E80F72E6B3D25C8B4479ED0B1D62DF36F77F310B" val="[{&quot;GradientColorId&quot;:&quot;&quot;,&quot;IsFree&quot;:true,&quot;IsGradient&quot;:false,&quot;ImagePath&quot;:&quot;&quot;,&quot;GradientColor&quot;:null,&quot;SimpleColor&quot;:&quot;#F2F2F2&quot;},{&quot;GradientColorId&quot;:&quot;&quot;,&quot;IsFree&quot;:true,&quot;IsGradient&quot;:false,&quot;ImagePath&quot;:&quot;&quot;,&quot;GradientColor&quot;:null,&quot;SimpleColor&quot;:&quot;#D9D9D9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1068</Words>
  <Application>Microsoft Office PowerPoint</Application>
  <PresentationFormat>宽屏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恺诚 刘</cp:lastModifiedBy>
  <cp:revision>224</cp:revision>
  <dcterms:created xsi:type="dcterms:W3CDTF">2013-01-27T09:14:16Z</dcterms:created>
  <dcterms:modified xsi:type="dcterms:W3CDTF">2026-07-24T06:42:04Z</dcterms:modified>
  <cp:category/>
</cp:coreProperties>
</file>